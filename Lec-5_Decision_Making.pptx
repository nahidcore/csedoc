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717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MASTER">
    <p:bg>
      <p:bgPr>
        <a:solidFill>
          <a:srgbClr val="16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1F2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6108192"/>
            <a:ext cx="57328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 AND BRANCHING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9270" y="6108192"/>
            <a:ext cx="639682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27432"/>
          </a:xfrm>
          <a:prstGeom prst="rect">
            <a:avLst/>
          </a:prstGeom>
          <a:solidFill>
            <a:srgbClr val="DCE1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 IN C</a:t>
            </a:r>
            <a:endParaRPr lang="en-US" sz="1050" dirty="0"/>
          </a:p>
        </p:txBody>
      </p:sp>
      <p:sp>
        <p:nvSpPr>
          <p:cNvPr id="5" name="Text 3"/>
          <p:cNvSpPr>
            <a:spLocks noGrp="1"/>
          </p:cNvSpPr>
          <p:nvPr>
            <p:ph type="title" idx="103" hasCustomPrompt="1"/>
          </p:nvPr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Placeholder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0" y="6473952"/>
            <a:ext cx="12188952" cy="18288"/>
          </a:xfrm>
          <a:prstGeom prst="rect">
            <a:avLst/>
          </a:prstGeom>
          <a:solidFill>
            <a:srgbClr val="DCE1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/>
              <a:t>Decision Making and Branching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1081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17320"/>
            <a:ext cx="6492240" cy="457200"/>
          </a:xfrm>
          <a:prstGeom prst="roundRect">
            <a:avLst>
              <a:gd name="adj" fmla="val 50000"/>
            </a:avLst>
          </a:prstGeom>
          <a:solidFill>
            <a:srgbClr val="1F2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cs typeface="Calibri" pitchFamily="34" charset="-120"/>
              </a:rPr>
              <a:t>CSE—1103: Structured Programming Language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Making and Branching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if, if–else, nested if, if–else–if ladder, switch, and the ternary operator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412480" y="1417320"/>
            <a:ext cx="3063240" cy="2834640"/>
          </a:xfrm>
          <a:prstGeom prst="roundRect">
            <a:avLst>
              <a:gd name="adj" fmla="val 2581"/>
            </a:avLst>
          </a:prstGeom>
          <a:solidFill>
            <a:srgbClr val="161F3D"/>
          </a:solidFill>
          <a:ln w="12700">
            <a:solidFill>
              <a:srgbClr val="1F2B54"/>
            </a:solidFill>
            <a:prstDash val="solid"/>
          </a:ln>
          <a:effectLst>
            <a:outerShdw blurRad="76200" dist="25400" dir="5400000" algn="bl" rotWithShape="0">
              <a:srgbClr val="1B1F3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577072" y="1563624"/>
            <a:ext cx="100584" cy="100584"/>
          </a:xfrm>
          <a:prstGeom prst="ellipse">
            <a:avLst/>
          </a:prstGeom>
          <a:solidFill>
            <a:srgbClr val="F45B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741664" y="1563624"/>
            <a:ext cx="100584" cy="100584"/>
          </a:xfrm>
          <a:prstGeom prst="ellipse">
            <a:avLst/>
          </a:prstGeom>
          <a:solidFill>
            <a:srgbClr val="F5C5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06256" y="1563624"/>
            <a:ext cx="100584" cy="100584"/>
          </a:xfrm>
          <a:prstGeom prst="ellipse">
            <a:avLst/>
          </a:prstGeom>
          <a:solidFill>
            <a:srgbClr val="3FC9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12680" y="150876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68512" y="1801368"/>
            <a:ext cx="255117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(age </a:t>
            </a:r>
            <a:r>
              <a:rPr lang="en-US" sz="13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18) {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printf</a:t>
            </a:r>
            <a:r>
              <a:rPr lang="en-US" sz="130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("Vote");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3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printf</a:t>
            </a:r>
            <a:r>
              <a:rPr lang="en-US" sz="130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("Wait");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160520"/>
            <a:ext cx="10607040" cy="0"/>
          </a:xfrm>
          <a:prstGeom prst="line">
            <a:avLst/>
          </a:prstGeom>
          <a:noFill/>
          <a:ln w="12700">
            <a:solidFill>
              <a:srgbClr val="1F2B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1081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LECTURE, STUDENTS WILL BE ABLE TO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8562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3E8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49808" y="2587752"/>
            <a:ext cx="45720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54480" y="1837944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programs need decision making and how conditions control program flow.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73368" y="18562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3E8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373368" y="2587752"/>
            <a:ext cx="45720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78040" y="1837944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trace if, if–else, and nested if statements with correct C syntax.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72968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3337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3E8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749808" y="4069080"/>
            <a:ext cx="45720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54480" y="3319272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if–else–if ladder and switch statement to multi-way decisions.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3172968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73368" y="3337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3E8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6373368" y="4069080"/>
            <a:ext cx="45720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78040" y="3319272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ternary (?:) operator as a compact alternative to if–else.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65429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9808" y="470001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554480" y="4654296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program output by hand for a given input, and avoid common logic errors.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Decision Making in C?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normally executes statements sequentially, one after another.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 lets a program choose which statement(s) to execute, based on whether a condition is TRUE or FALSE.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is any expression that evaluates to a Boolean-like result: 0 (false) or non-zero (true) in C.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provides two families of decision-making tools: conditional statements (if, switch) and the conditional operator (?:).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949440" y="1600200"/>
            <a:ext cx="46634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223760" y="1783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FLOW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06640" y="219456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6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06640" y="2194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Stmt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138160" y="2651760"/>
            <a:ext cx="0" cy="256032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406640" y="2907792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6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06640" y="290779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Stmt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3364992"/>
            <a:ext cx="0" cy="256032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06640" y="3621024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6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06640" y="362102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Stmt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23760" y="4187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601200" y="2084832"/>
            <a:ext cx="1554480" cy="713232"/>
          </a:xfrm>
          <a:prstGeom prst="diamond">
            <a:avLst/>
          </a:prstGeom>
          <a:solidFill>
            <a:srgbClr val="F5A623"/>
          </a:solidFill>
          <a:ln w="19050">
            <a:solidFill>
              <a:srgbClr val="16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0" y="2084832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378440" y="2798064"/>
            <a:ext cx="0" cy="219456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555480" y="3017520"/>
            <a:ext cx="868680" cy="438912"/>
          </a:xfrm>
          <a:prstGeom prst="roundRect">
            <a:avLst>
              <a:gd name="adj" fmla="val 12500"/>
            </a:avLst>
          </a:prstGeom>
          <a:solidFill>
            <a:srgbClr val="EAF7F3"/>
          </a:solidFill>
          <a:ln w="19050">
            <a:solidFill>
              <a:srgbClr val="17A3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555480" y="3017520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332720" y="3017520"/>
            <a:ext cx="868680" cy="438912"/>
          </a:xfrm>
          <a:prstGeom prst="roundRect">
            <a:avLst>
              <a:gd name="adj" fmla="val 12500"/>
            </a:avLst>
          </a:prstGeom>
          <a:solidFill>
            <a:srgbClr val="FDEFE0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332720" y="3017520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378440" y="2798064"/>
            <a:ext cx="0" cy="21945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378440" y="2798064"/>
            <a:ext cx="411480" cy="21945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378440" y="3456432"/>
            <a:ext cx="0" cy="256032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601200" y="3712464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6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601200" y="371246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464040" y="426110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223760" y="489204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 branches the flow — only one path executes.</a:t>
            </a:r>
            <a:endParaRPr lang="en-US" sz="1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Decision-Making Statements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070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TOOLS, ONE PURPOSE: CHOOSE A PATH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05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  <a:effectLst>
            <a:outerShdw blurRad="50800" dist="127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82880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6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8288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304288"/>
            <a:ext cx="3102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2670048"/>
            <a:ext cx="310286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a block only when a single condition is true.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8160" y="1645920"/>
            <a:ext cx="3505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  <a:effectLst>
            <a:outerShdw blurRad="50800" dist="127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29328" y="182880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6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29328" y="18288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9328" y="2304288"/>
            <a:ext cx="3102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if–else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9328" y="2670048"/>
            <a:ext cx="310286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between two blocks based on one condition.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645920"/>
            <a:ext cx="3505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  <a:effectLst>
            <a:outerShdw blurRad="50800" dist="127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08848" y="182880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6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08848" y="18288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08848" y="2304288"/>
            <a:ext cx="3102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Nested if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08848" y="2670048"/>
            <a:ext cx="310286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if / if–else placed inside another if or else.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3505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  <a:effectLst>
            <a:outerShdw blurRad="50800" dist="127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9808" y="365760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6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9808" y="36576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" y="4133088"/>
            <a:ext cx="3102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if–else–if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9808" y="4498848"/>
            <a:ext cx="310286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several conditions in order (a “ladder”).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28160" y="3474720"/>
            <a:ext cx="3505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  <a:effectLst>
            <a:outerShdw blurRad="50800" dist="127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29328" y="365760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6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29328" y="36576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29328" y="4133088"/>
            <a:ext cx="3102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29328" y="4498848"/>
            <a:ext cx="310286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a variable's value against a list of cases.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07680" y="3474720"/>
            <a:ext cx="3505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  <a:effectLst>
            <a:outerShdw blurRad="50800" dist="12700" dir="5400000" algn="bl" rotWithShape="0">
              <a:srgbClr val="1B1F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08848" y="365760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6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308848" y="36576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08848" y="4133088"/>
            <a:ext cx="3102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?: (ternary)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08848" y="4498848"/>
            <a:ext cx="310286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expression form of if–else.</a:t>
            </a:r>
            <a:endParaRPr lang="en-US" sz="11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if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A BLOCK ONLY WHEN THE CONDITION IS TRUE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161F3D"/>
          </a:solidFill>
          <a:ln w="12700">
            <a:solidFill>
              <a:srgbClr val="1F2B54"/>
            </a:solidFill>
            <a:prstDash val="solid"/>
          </a:ln>
          <a:effectLst>
            <a:outerShdw blurRad="76200" dist="25400" dir="5400000" algn="bl" rotWithShape="0">
              <a:srgbClr val="1B1F3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746504"/>
            <a:ext cx="100584" cy="100584"/>
          </a:xfrm>
          <a:prstGeom prst="ellipse">
            <a:avLst/>
          </a:prstGeom>
          <a:solidFill>
            <a:srgbClr val="F45B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77824" y="1746504"/>
            <a:ext cx="100584" cy="100584"/>
          </a:xfrm>
          <a:prstGeom prst="ellipse">
            <a:avLst/>
          </a:prstGeom>
          <a:solidFill>
            <a:srgbClr val="F5C5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2416" y="1746504"/>
            <a:ext cx="100584" cy="100584"/>
          </a:xfrm>
          <a:prstGeom prst="ellipse">
            <a:avLst/>
          </a:prstGeom>
          <a:solidFill>
            <a:srgbClr val="3FC9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0" y="169164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" y="1984248"/>
            <a:ext cx="46085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(condition) {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body executes only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if condition is true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is any expression producing 0 (false) or non-zero (true).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is true, the block in { } runs; otherwise it is skipped entirely.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Braces { } may be omitted only when the body is a single statement.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01000" y="1554480"/>
            <a:ext cx="1554480" cy="457200"/>
          </a:xfrm>
          <a:prstGeom prst="flowChartTerminator">
            <a:avLst/>
          </a:prstGeom>
          <a:solidFill>
            <a:srgbClr val="16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0100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78240" y="2011680"/>
            <a:ext cx="0" cy="27432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72400" y="2286000"/>
            <a:ext cx="2011680" cy="868680"/>
          </a:xfrm>
          <a:prstGeom prst="diamond">
            <a:avLst/>
          </a:prstGeom>
          <a:solidFill>
            <a:srgbClr val="F5A623"/>
          </a:solidFill>
          <a:ln w="19050">
            <a:solidFill>
              <a:srgbClr val="16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0" y="228600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&gt;= 18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78240" y="3154680"/>
            <a:ext cx="0" cy="27432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15400" y="312724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543800" y="3429000"/>
            <a:ext cx="2468880" cy="548640"/>
          </a:xfrm>
          <a:prstGeom prst="roundRect">
            <a:avLst>
              <a:gd name="adj" fmla="val 10000"/>
            </a:avLst>
          </a:prstGeom>
          <a:solidFill>
            <a:srgbClr val="EAF7F3"/>
          </a:solidFill>
          <a:ln w="19050">
            <a:solidFill>
              <a:srgbClr val="17A3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43800" y="3429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printf("Eligible for vote")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778240" y="3977640"/>
            <a:ext cx="0" cy="27432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001000" y="4251960"/>
            <a:ext cx="1554480" cy="457200"/>
          </a:xfrm>
          <a:prstGeom prst="flowChartTerminator">
            <a:avLst/>
          </a:prstGeom>
          <a:solidFill>
            <a:srgbClr val="16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001000" y="42519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784080" y="2715768"/>
            <a:ext cx="9144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698480" y="2715768"/>
            <a:ext cx="0" cy="176479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698480" y="4480560"/>
            <a:ext cx="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921240" y="248716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0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Program – if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ELIGIBILITY CHECKER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309360" cy="4480560"/>
          </a:xfrm>
          <a:prstGeom prst="roundRect">
            <a:avLst>
              <a:gd name="adj" fmla="val 1633"/>
            </a:avLst>
          </a:prstGeom>
          <a:solidFill>
            <a:srgbClr val="161F3D"/>
          </a:solidFill>
          <a:ln w="12700">
            <a:solidFill>
              <a:srgbClr val="1F2B54"/>
            </a:solidFill>
            <a:prstDash val="solid"/>
          </a:ln>
          <a:effectLst>
            <a:outerShdw blurRad="76200" dist="25400" dir="5400000" algn="bl" rotWithShape="0">
              <a:srgbClr val="1B1F3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700784"/>
            <a:ext cx="100584" cy="100584"/>
          </a:xfrm>
          <a:prstGeom prst="ellipse">
            <a:avLst/>
          </a:prstGeom>
          <a:solidFill>
            <a:srgbClr val="F45B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77824" y="1700784"/>
            <a:ext cx="100584" cy="100584"/>
          </a:xfrm>
          <a:prstGeom prst="ellipse">
            <a:avLst/>
          </a:prstGeom>
          <a:solidFill>
            <a:srgbClr val="F5C5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2416" y="1700784"/>
            <a:ext cx="100584" cy="100584"/>
          </a:xfrm>
          <a:prstGeom prst="ellipse">
            <a:avLst/>
          </a:prstGeom>
          <a:solidFill>
            <a:srgbClr val="3FC9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94960" y="164592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vote.c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" y="1938528"/>
            <a:ext cx="5797296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r>
              <a:rPr lang="en-US" sz="135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&lt;stdio.h&gt;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</a:t>
            </a:r>
            <a:r>
              <a:rPr lang="en-US" sz="13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</a:t>
            </a:r>
            <a:r>
              <a:rPr lang="en-US" sz="135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("Enter your age: ");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scanf</a:t>
            </a:r>
            <a:r>
              <a:rPr lang="en-US" sz="135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("%d", </a:t>
            </a:r>
            <a:r>
              <a:rPr lang="en-US" sz="13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&amp;age);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3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(age &gt;= 18) {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</a:t>
            </a:r>
            <a:r>
              <a:rPr lang="en-US" sz="135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("Eligible to vote\n");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3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086600" y="1554480"/>
            <a:ext cx="455371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0" y="1682496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0" y="2011680"/>
            <a:ext cx="409651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0" y="2121408"/>
            <a:ext cx="409651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Enter your age: 20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F7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Eligible to vote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086600" y="3840480"/>
            <a:ext cx="4553712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0" y="3968496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4297680"/>
            <a:ext cx="409651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0" y="4407408"/>
            <a:ext cx="409651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Enter your age: 15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F7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(no output — the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F7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if block is skipped)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if–else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EXACTLY ONE OF TWO BLOCKS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161F3D"/>
          </a:solidFill>
          <a:ln w="12700">
            <a:solidFill>
              <a:srgbClr val="1F2B54"/>
            </a:solidFill>
            <a:prstDash val="solid"/>
          </a:ln>
          <a:effectLst>
            <a:outerShdw blurRad="76200" dist="25400" dir="5400000" algn="bl" rotWithShape="0">
              <a:srgbClr val="1B1F3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746504"/>
            <a:ext cx="100584" cy="100584"/>
          </a:xfrm>
          <a:prstGeom prst="ellipse">
            <a:avLst/>
          </a:prstGeom>
          <a:solidFill>
            <a:srgbClr val="F45B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77824" y="1746504"/>
            <a:ext cx="100584" cy="100584"/>
          </a:xfrm>
          <a:prstGeom prst="ellipse">
            <a:avLst/>
          </a:prstGeom>
          <a:solidFill>
            <a:srgbClr val="F5C5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2416" y="1746504"/>
            <a:ext cx="100584" cy="100584"/>
          </a:xfrm>
          <a:prstGeom prst="ellipse">
            <a:avLst/>
          </a:prstGeom>
          <a:solidFill>
            <a:srgbClr val="3FC9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0" y="169164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" y="1984248"/>
            <a:ext cx="4608576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(condition) {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runs when TRUE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3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runs when FALSE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88620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branch executes — never both, never neither.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whenever a program must handle both outcomes of a condition.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has no condition of its own; it simply catches the remaining case.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01000" y="1554480"/>
            <a:ext cx="1554480" cy="457200"/>
          </a:xfrm>
          <a:prstGeom prst="flowChartTerminator">
            <a:avLst/>
          </a:prstGeom>
          <a:solidFill>
            <a:srgbClr val="16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0100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78240" y="2011680"/>
            <a:ext cx="0" cy="27432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72400" y="2286000"/>
            <a:ext cx="2011680" cy="868680"/>
          </a:xfrm>
          <a:prstGeom prst="diamond">
            <a:avLst/>
          </a:prstGeom>
          <a:solidFill>
            <a:srgbClr val="F5A623"/>
          </a:solidFill>
          <a:ln w="19050">
            <a:solidFill>
              <a:srgbClr val="16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0" y="228600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&gt;= 18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78240" y="3154680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15400" y="312724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61120" y="347472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EAF7F3"/>
          </a:solidFill>
          <a:ln w="19050">
            <a:solidFill>
              <a:srgbClr val="17A3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961120" y="3474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0" y="2715768"/>
            <a:ext cx="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269480" y="2715768"/>
            <a:ext cx="0" cy="75895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29400" y="248716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347472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FDEFE0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63640" y="3474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eligible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78040" y="4023360"/>
            <a:ext cx="0" cy="32004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875520" y="4023360"/>
            <a:ext cx="0" cy="32004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178040" y="4343400"/>
            <a:ext cx="26974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503920" y="4343400"/>
            <a:ext cx="0" cy="32004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680960" y="4663440"/>
            <a:ext cx="1554480" cy="457200"/>
          </a:xfrm>
          <a:prstGeom prst="flowChartTerminator">
            <a:avLst/>
          </a:prstGeom>
          <a:solidFill>
            <a:srgbClr val="16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680960" y="46634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2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Program – if–else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A NUMBER IS EVEN OR ODD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309360" cy="4480560"/>
          </a:xfrm>
          <a:prstGeom prst="roundRect">
            <a:avLst>
              <a:gd name="adj" fmla="val 1633"/>
            </a:avLst>
          </a:prstGeom>
          <a:solidFill>
            <a:srgbClr val="161F3D"/>
          </a:solidFill>
          <a:ln w="12700">
            <a:solidFill>
              <a:srgbClr val="1F2B54"/>
            </a:solidFill>
            <a:prstDash val="solid"/>
          </a:ln>
          <a:effectLst>
            <a:outerShdw blurRad="76200" dist="25400" dir="5400000" algn="bl" rotWithShape="0">
              <a:srgbClr val="1B1F3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700784"/>
            <a:ext cx="100584" cy="100584"/>
          </a:xfrm>
          <a:prstGeom prst="ellipse">
            <a:avLst/>
          </a:prstGeom>
          <a:solidFill>
            <a:srgbClr val="F45B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77824" y="1700784"/>
            <a:ext cx="100584" cy="100584"/>
          </a:xfrm>
          <a:prstGeom prst="ellipse">
            <a:avLst/>
          </a:prstGeom>
          <a:solidFill>
            <a:srgbClr val="F5C5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2416" y="1700784"/>
            <a:ext cx="100584" cy="100584"/>
          </a:xfrm>
          <a:prstGeom prst="ellipse">
            <a:avLst/>
          </a:prstGeom>
          <a:solidFill>
            <a:srgbClr val="3FC9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94960" y="164592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evenodd.c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" y="1938528"/>
            <a:ext cx="5797296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r>
              <a:rPr lang="en-US" sz="135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&lt;stdio.h&gt;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</a:t>
            </a:r>
            <a:r>
              <a:rPr lang="en-US" sz="13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</a:t>
            </a:r>
            <a:r>
              <a:rPr lang="en-US" sz="135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("Enter an integer: ");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scanf</a:t>
            </a:r>
            <a:r>
              <a:rPr lang="en-US" sz="135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("%d", </a:t>
            </a:r>
            <a:r>
              <a:rPr lang="en-US" sz="13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&amp;num);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3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(num % </a:t>
            </a:r>
            <a:r>
              <a:rPr lang="en-US" sz="13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r>
              <a:rPr lang="en-US" sz="13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</a:t>
            </a:r>
            <a:r>
              <a:rPr lang="en-US" sz="135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("%d is even\n", </a:t>
            </a:r>
            <a:r>
              <a:rPr lang="en-US" sz="13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num);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</a:t>
            </a:r>
            <a:r>
              <a:rPr lang="en-US" sz="13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3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</a:t>
            </a:r>
            <a:r>
              <a:rPr lang="en-US" sz="135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("%d is odd\n", </a:t>
            </a:r>
            <a:r>
              <a:rPr lang="en-US" sz="13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num);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3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086600" y="1554480"/>
            <a:ext cx="455371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0" y="1682496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0" y="2011680"/>
            <a:ext cx="409651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0" y="2121408"/>
            <a:ext cx="409651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Enter an integer: 14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F7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14 is even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086600" y="3840480"/>
            <a:ext cx="4553712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0" y="3968496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4297680"/>
            <a:ext cx="409651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0" y="4407408"/>
            <a:ext cx="409651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Enter an integer: 7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F7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7 is odd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if–else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IF / IF–ELSE PLACED INSIDE ANOTHER IF OR ELSE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2926080"/>
          </a:xfrm>
          <a:prstGeom prst="roundRect">
            <a:avLst>
              <a:gd name="adj" fmla="val 2500"/>
            </a:avLst>
          </a:prstGeom>
          <a:solidFill>
            <a:srgbClr val="161F3D"/>
          </a:solidFill>
          <a:ln w="12700">
            <a:solidFill>
              <a:srgbClr val="1F2B54"/>
            </a:solidFill>
            <a:prstDash val="solid"/>
          </a:ln>
          <a:effectLst>
            <a:outerShdw blurRad="76200" dist="25400" dir="5400000" algn="bl" rotWithShape="0">
              <a:srgbClr val="1B1F3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746504"/>
            <a:ext cx="100584" cy="100584"/>
          </a:xfrm>
          <a:prstGeom prst="ellipse">
            <a:avLst/>
          </a:prstGeom>
          <a:solidFill>
            <a:srgbClr val="F45B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77824" y="1746504"/>
            <a:ext cx="100584" cy="100584"/>
          </a:xfrm>
          <a:prstGeom prst="ellipse">
            <a:avLst/>
          </a:prstGeom>
          <a:solidFill>
            <a:srgbClr val="F5C5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2416" y="1746504"/>
            <a:ext cx="100584" cy="100584"/>
          </a:xfrm>
          <a:prstGeom prst="ellipse">
            <a:avLst/>
          </a:prstGeom>
          <a:solidFill>
            <a:srgbClr val="3FC9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0" y="169164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" y="1984248"/>
            <a:ext cx="497433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(outer_condition) {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(inner_condition) {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runs when both are true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</a:t>
            </a:r>
            <a:r>
              <a:rPr lang="en-US" sz="13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outer true, inner false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3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outer_condition is false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1737360"/>
            <a:ext cx="5303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if is evaluated only when the outer condition allows it — it never runs on its own.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test a condition step-by-step, refining a decision in stages.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nesting hurts readability; prefer an if–else–if ladder when checking many independent conditions.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09360" y="470916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DEF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37960" y="470916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r>
              <a:rPr lang="en-US" sz="12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block is nested INSIDE the outer block — indentation shows the structure clearly.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Program – Nested if–else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 CATEGORY BY AGE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309360" cy="4480560"/>
          </a:xfrm>
          <a:prstGeom prst="roundRect">
            <a:avLst>
              <a:gd name="adj" fmla="val 1633"/>
            </a:avLst>
          </a:prstGeom>
          <a:solidFill>
            <a:srgbClr val="161F3D"/>
          </a:solidFill>
          <a:ln w="12700">
            <a:solidFill>
              <a:srgbClr val="1F2B54"/>
            </a:solidFill>
            <a:prstDash val="solid"/>
          </a:ln>
          <a:effectLst>
            <a:outerShdw blurRad="76200" dist="25400" dir="5400000" algn="bl" rotWithShape="0">
              <a:srgbClr val="1B1F3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700784"/>
            <a:ext cx="100584" cy="100584"/>
          </a:xfrm>
          <a:prstGeom prst="ellipse">
            <a:avLst/>
          </a:prstGeom>
          <a:solidFill>
            <a:srgbClr val="F45B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77824" y="1700784"/>
            <a:ext cx="100584" cy="100584"/>
          </a:xfrm>
          <a:prstGeom prst="ellipse">
            <a:avLst/>
          </a:prstGeom>
          <a:solidFill>
            <a:srgbClr val="F5C5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2416" y="1700784"/>
            <a:ext cx="100584" cy="100584"/>
          </a:xfrm>
          <a:prstGeom prst="ellipse">
            <a:avLst/>
          </a:prstGeom>
          <a:solidFill>
            <a:srgbClr val="3FC9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94960" y="164592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nested.c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" y="1938528"/>
            <a:ext cx="5797296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r>
              <a:rPr lang="en-US" sz="125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&lt;stdio.h&gt;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</a:t>
            </a:r>
            <a:r>
              <a:rPr lang="en-US" sz="12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</a:t>
            </a:r>
            <a:r>
              <a:rPr lang="en-US" sz="125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("Enter age: ");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scanf</a:t>
            </a:r>
            <a:r>
              <a:rPr lang="en-US" sz="125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("%d", </a:t>
            </a:r>
            <a:r>
              <a:rPr lang="en-US" sz="12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&amp;age);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2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(age &gt;= 18) {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</a:t>
            </a:r>
            <a:r>
              <a:rPr lang="en-US" sz="12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(age &gt;= 60)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printf</a:t>
            </a:r>
            <a:r>
              <a:rPr lang="en-US" sz="125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("Senior voter\n");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printf</a:t>
            </a:r>
            <a:r>
              <a:rPr lang="en-US" sz="125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("Eligible voter\n");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</a:t>
            </a:r>
            <a:r>
              <a:rPr lang="en-US" sz="12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2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</a:t>
            </a:r>
            <a:r>
              <a:rPr lang="en-US" sz="125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("Not eligible – under 18\n");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2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086600" y="1554480"/>
            <a:ext cx="455371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0" y="1682496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0" y="2011680"/>
            <a:ext cx="409651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0" y="2121408"/>
            <a:ext cx="409651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Enter age: 65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F7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Senior voter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086600" y="3840480"/>
            <a:ext cx="4553712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0" y="3968496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4297680"/>
            <a:ext cx="409651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0" y="4407408"/>
            <a:ext cx="409651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Enter age: 16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F7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Not eligible – under 18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if–else–if Ladder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SEVERAL CONDITIONS FROM TOP TO BOTTOM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3108960"/>
          </a:xfrm>
          <a:prstGeom prst="roundRect">
            <a:avLst>
              <a:gd name="adj" fmla="val 2353"/>
            </a:avLst>
          </a:prstGeom>
          <a:solidFill>
            <a:srgbClr val="161F3D"/>
          </a:solidFill>
          <a:ln w="12700">
            <a:solidFill>
              <a:srgbClr val="1F2B54"/>
            </a:solidFill>
            <a:prstDash val="solid"/>
          </a:ln>
          <a:effectLst>
            <a:outerShdw blurRad="76200" dist="25400" dir="5400000" algn="bl" rotWithShape="0">
              <a:srgbClr val="1B1F3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746504"/>
            <a:ext cx="100584" cy="100584"/>
          </a:xfrm>
          <a:prstGeom prst="ellipse">
            <a:avLst/>
          </a:prstGeom>
          <a:solidFill>
            <a:srgbClr val="F45B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77824" y="1746504"/>
            <a:ext cx="100584" cy="100584"/>
          </a:xfrm>
          <a:prstGeom prst="ellipse">
            <a:avLst/>
          </a:prstGeom>
          <a:solidFill>
            <a:srgbClr val="F5C5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2416" y="1746504"/>
            <a:ext cx="100584" cy="100584"/>
          </a:xfrm>
          <a:prstGeom prst="ellipse">
            <a:avLst/>
          </a:prstGeom>
          <a:solidFill>
            <a:srgbClr val="3FC9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0" y="169164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" y="1984248"/>
            <a:ext cx="49743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(condition1) {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runs if condition1 is true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3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(condition2) {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runs if condition2 is true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3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(condition3) {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runs if condition3 is true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3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runs if none of the above match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1737360"/>
            <a:ext cx="5303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are checked in order; the first one that is true runs, and the rest are skipped.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else is optional — it handles the case where nothing matched.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for ranges or several unrelated conditions (grades, tax slabs, categories).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09360" y="4709160"/>
            <a:ext cx="1236726" cy="685800"/>
          </a:xfrm>
          <a:prstGeom prst="diamond">
            <a:avLst/>
          </a:prstGeom>
          <a:solidFill>
            <a:srgbClr val="F5A623"/>
          </a:solidFill>
          <a:ln w="19050">
            <a:solidFill>
              <a:srgbClr val="16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0" y="4709160"/>
            <a:ext cx="123672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546086" y="5052060"/>
            <a:ext cx="118872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664958" y="4709160"/>
            <a:ext cx="1236726" cy="685800"/>
          </a:xfrm>
          <a:prstGeom prst="diamond">
            <a:avLst/>
          </a:prstGeom>
          <a:solidFill>
            <a:srgbClr val="F5A623"/>
          </a:solidFill>
          <a:ln w="19050">
            <a:solidFill>
              <a:srgbClr val="16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64958" y="4709160"/>
            <a:ext cx="123672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01684" y="5052060"/>
            <a:ext cx="118872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020556" y="4709160"/>
            <a:ext cx="1236726" cy="685800"/>
          </a:xfrm>
          <a:prstGeom prst="diamond">
            <a:avLst/>
          </a:prstGeom>
          <a:solidFill>
            <a:srgbClr val="F5A623"/>
          </a:solidFill>
          <a:ln w="19050">
            <a:solidFill>
              <a:srgbClr val="16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020556" y="4709160"/>
            <a:ext cx="123672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257282" y="5052060"/>
            <a:ext cx="118872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376154" y="4709160"/>
            <a:ext cx="1236726" cy="68580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9050">
            <a:solidFill>
              <a:srgbClr val="16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376154" y="4709160"/>
            <a:ext cx="123672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5486400"/>
            <a:ext cx="132816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next if false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619238" y="5486400"/>
            <a:ext cx="132816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next if false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974836" y="5486400"/>
            <a:ext cx="132816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run else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Program – if–else–if Ladder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CALCULATOR BASED ON MARKS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309360" cy="4480560"/>
          </a:xfrm>
          <a:prstGeom prst="roundRect">
            <a:avLst>
              <a:gd name="adj" fmla="val 1633"/>
            </a:avLst>
          </a:prstGeom>
          <a:solidFill>
            <a:srgbClr val="161F3D"/>
          </a:solidFill>
          <a:ln w="12700">
            <a:solidFill>
              <a:srgbClr val="1F2B54"/>
            </a:solidFill>
            <a:prstDash val="solid"/>
          </a:ln>
          <a:effectLst>
            <a:outerShdw blurRad="76200" dist="25400" dir="5400000" algn="bl" rotWithShape="0">
              <a:srgbClr val="1B1F3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700784"/>
            <a:ext cx="100584" cy="100584"/>
          </a:xfrm>
          <a:prstGeom prst="ellipse">
            <a:avLst/>
          </a:prstGeom>
          <a:solidFill>
            <a:srgbClr val="F45B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77824" y="1700784"/>
            <a:ext cx="100584" cy="100584"/>
          </a:xfrm>
          <a:prstGeom prst="ellipse">
            <a:avLst/>
          </a:prstGeom>
          <a:solidFill>
            <a:srgbClr val="F5C5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2416" y="1700784"/>
            <a:ext cx="100584" cy="100584"/>
          </a:xfrm>
          <a:prstGeom prst="ellipse">
            <a:avLst/>
          </a:prstGeom>
          <a:solidFill>
            <a:srgbClr val="3FC9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94960" y="164592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grade.c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" y="1938528"/>
            <a:ext cx="5797296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r>
              <a:rPr lang="en-US" sz="125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&lt;stdio.h&gt;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</a:t>
            </a:r>
            <a:r>
              <a:rPr lang="en-US" sz="12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marks;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</a:t>
            </a:r>
            <a:r>
              <a:rPr lang="en-US" sz="125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("Enter marks: ");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scanf</a:t>
            </a:r>
            <a:r>
              <a:rPr lang="en-US" sz="125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("%d", </a:t>
            </a:r>
            <a:r>
              <a:rPr lang="en-US" sz="12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&amp;marks);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2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(marks &gt;= 80)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</a:t>
            </a:r>
            <a:r>
              <a:rPr lang="en-US" sz="125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("Grade: A\n");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</a:t>
            </a:r>
            <a:r>
              <a:rPr lang="en-US" sz="12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(marks &gt;= 60)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</a:t>
            </a:r>
            <a:r>
              <a:rPr lang="en-US" sz="125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("Grade: B\n");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</a:t>
            </a:r>
            <a:r>
              <a:rPr lang="en-US" sz="12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(marks &gt;= 40)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</a:t>
            </a:r>
            <a:r>
              <a:rPr lang="en-US" sz="125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("Grade: C\n");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</a:t>
            </a:r>
            <a:r>
              <a:rPr lang="en-US" sz="125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("Grade: F\n");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2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086600" y="1554480"/>
            <a:ext cx="455371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0" y="1682496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0" y="2011680"/>
            <a:ext cx="409651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0" y="2121408"/>
            <a:ext cx="409651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Enter marks: 72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F7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Grade: B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086600" y="3840480"/>
            <a:ext cx="4553712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0" y="3968496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4297680"/>
            <a:ext cx="409651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0" y="4407408"/>
            <a:ext cx="409651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Enter marks: 35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F7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Grade: F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switch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A VALUE AGAINST A LIST OF CASES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77840" cy="3429000"/>
          </a:xfrm>
          <a:prstGeom prst="roundRect">
            <a:avLst>
              <a:gd name="adj" fmla="val 2133"/>
            </a:avLst>
          </a:prstGeom>
          <a:solidFill>
            <a:srgbClr val="161F3D"/>
          </a:solidFill>
          <a:ln w="12700">
            <a:solidFill>
              <a:srgbClr val="1F2B54"/>
            </a:solidFill>
            <a:prstDash val="solid"/>
          </a:ln>
          <a:effectLst>
            <a:outerShdw blurRad="76200" dist="25400" dir="5400000" algn="bl" rotWithShape="0">
              <a:srgbClr val="1B1F3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746504"/>
            <a:ext cx="100584" cy="100584"/>
          </a:xfrm>
          <a:prstGeom prst="ellipse">
            <a:avLst/>
          </a:prstGeom>
          <a:solidFill>
            <a:srgbClr val="F45B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77824" y="1746504"/>
            <a:ext cx="100584" cy="100584"/>
          </a:xfrm>
          <a:prstGeom prst="ellipse">
            <a:avLst/>
          </a:prstGeom>
          <a:solidFill>
            <a:srgbClr val="F5C5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2416" y="1746504"/>
            <a:ext cx="100584" cy="100584"/>
          </a:xfrm>
          <a:prstGeom prst="ellipse">
            <a:avLst/>
          </a:prstGeom>
          <a:solidFill>
            <a:srgbClr val="3FC9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63440" y="169164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" y="1984248"/>
            <a:ext cx="5065776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(expression) {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</a:t>
            </a: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value1: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code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</a:t>
            </a: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value2: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code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</a:t>
            </a: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code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5080" y="1737360"/>
            <a:ext cx="53035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must evaluate to an integer or character type.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jumps directly to the matching case label.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exits the switch; without it, execution “falls through” into the next case.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runs when no case matches — it is optional.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Program – switch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 NAME LOOKUP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309360" cy="4480560"/>
          </a:xfrm>
          <a:prstGeom prst="roundRect">
            <a:avLst>
              <a:gd name="adj" fmla="val 1633"/>
            </a:avLst>
          </a:prstGeom>
          <a:solidFill>
            <a:srgbClr val="161F3D"/>
          </a:solidFill>
          <a:ln w="12700">
            <a:solidFill>
              <a:srgbClr val="1F2B54"/>
            </a:solidFill>
            <a:prstDash val="solid"/>
          </a:ln>
          <a:effectLst>
            <a:outerShdw blurRad="76200" dist="25400" dir="5400000" algn="bl" rotWithShape="0">
              <a:srgbClr val="1B1F3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700784"/>
            <a:ext cx="100584" cy="100584"/>
          </a:xfrm>
          <a:prstGeom prst="ellipse">
            <a:avLst/>
          </a:prstGeom>
          <a:solidFill>
            <a:srgbClr val="F45B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77824" y="1700784"/>
            <a:ext cx="100584" cy="100584"/>
          </a:xfrm>
          <a:prstGeom prst="ellipse">
            <a:avLst/>
          </a:prstGeom>
          <a:solidFill>
            <a:srgbClr val="F5C5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2416" y="1700784"/>
            <a:ext cx="100584" cy="100584"/>
          </a:xfrm>
          <a:prstGeom prst="ellipse">
            <a:avLst/>
          </a:prstGeom>
          <a:solidFill>
            <a:srgbClr val="3FC9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94960" y="164592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weekday.c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" y="1938528"/>
            <a:ext cx="5797296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r>
              <a:rPr lang="en-US" sz="125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&lt;stdio.h&gt;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</a:t>
            </a:r>
            <a:r>
              <a:rPr lang="en-US" sz="12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day;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</a:t>
            </a:r>
            <a:r>
              <a:rPr lang="en-US" sz="125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("Enter day number (1-7): ");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scanf</a:t>
            </a:r>
            <a:r>
              <a:rPr lang="en-US" sz="125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("%d", </a:t>
            </a:r>
            <a:r>
              <a:rPr lang="en-US" sz="12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&amp;day);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switch</a:t>
            </a:r>
            <a:r>
              <a:rPr lang="en-US" sz="12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(day) {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</a:t>
            </a:r>
            <a:r>
              <a:rPr lang="en-US" sz="12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1: </a:t>
            </a:r>
            <a:r>
              <a:rPr lang="en-US" sz="125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r>
              <a:rPr lang="en-US" sz="125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("Sunday\n"); </a:t>
            </a:r>
            <a:r>
              <a:rPr lang="en-US" sz="12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12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</a:t>
            </a:r>
            <a:r>
              <a:rPr lang="en-US" sz="12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2: </a:t>
            </a:r>
            <a:r>
              <a:rPr lang="en-US" sz="125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r>
              <a:rPr lang="en-US" sz="125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("Monday\n"); </a:t>
            </a:r>
            <a:r>
              <a:rPr lang="en-US" sz="12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12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</a:t>
            </a:r>
            <a:r>
              <a:rPr lang="en-US" sz="12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3: </a:t>
            </a:r>
            <a:r>
              <a:rPr lang="en-US" sz="125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r>
              <a:rPr lang="en-US" sz="125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("Tuesday\n"); </a:t>
            </a:r>
            <a:r>
              <a:rPr lang="en-US" sz="12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12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5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 cases 4–6 ...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default</a:t>
            </a:r>
            <a:r>
              <a:rPr lang="en-US" sz="12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printf</a:t>
            </a:r>
            <a:r>
              <a:rPr lang="en-US" sz="125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("Invalid day\n");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2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086600" y="1554480"/>
            <a:ext cx="455371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0" y="1682496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0" y="2011680"/>
            <a:ext cx="409651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0" y="2121408"/>
            <a:ext cx="409651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Enter day number (1-7): 3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F7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Tuesday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086600" y="3840480"/>
            <a:ext cx="4553712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0" y="3968496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4297680"/>
            <a:ext cx="409651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0" y="4407408"/>
            <a:ext cx="409651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Enter day number (1-7): 9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F7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Invalid day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 vs. if–else–if Ladder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TOOL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502920"/>
          </a:xfrm>
          <a:prstGeom prst="rect">
            <a:avLst/>
          </a:prstGeom>
          <a:solidFill>
            <a:srgbClr val="16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 statement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48006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a single variable matched against many discrete values.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to read for many exact-match cases (menus, day/month numbers, grades).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works with integer or character expressions — no ranges, no float/string comparisons.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502920"/>
          </a:xfrm>
          <a:prstGeom prst="rect">
            <a:avLst/>
          </a:prstGeom>
          <a:solidFill>
            <a:srgbClr val="17A3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63640" y="169164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if–else–if ladder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423160"/>
            <a:ext cx="48006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ranges and complex or compound conditions (marks &gt;= 80, x &gt; 0 &amp;&amp; y &lt; 10).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data type: int, float, char, pointers, expressions.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become harder to read with many conditions — each is checked one by one.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Conditional (Ternary) Operator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COMPACT, EXPRESSION-BASED ALTERNATIVE TO IF–ELSE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852160" cy="1371600"/>
          </a:xfrm>
          <a:prstGeom prst="roundRect">
            <a:avLst>
              <a:gd name="adj" fmla="val 5333"/>
            </a:avLst>
          </a:prstGeom>
          <a:solidFill>
            <a:srgbClr val="161F3D"/>
          </a:solidFill>
          <a:ln w="12700">
            <a:solidFill>
              <a:srgbClr val="1F2B54"/>
            </a:solidFill>
            <a:prstDash val="solid"/>
          </a:ln>
          <a:effectLst>
            <a:outerShdw blurRad="76200" dist="25400" dir="5400000" algn="bl" rotWithShape="0">
              <a:srgbClr val="1B1F3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837944"/>
            <a:ext cx="100584" cy="100584"/>
          </a:xfrm>
          <a:prstGeom prst="ellipse">
            <a:avLst/>
          </a:prstGeom>
          <a:solidFill>
            <a:srgbClr val="F45B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77824" y="1837944"/>
            <a:ext cx="100584" cy="100584"/>
          </a:xfrm>
          <a:prstGeom prst="ellipse">
            <a:avLst/>
          </a:prstGeom>
          <a:solidFill>
            <a:srgbClr val="F5C5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2416" y="1837944"/>
            <a:ext cx="100584" cy="100584"/>
          </a:xfrm>
          <a:prstGeom prst="ellipse">
            <a:avLst/>
          </a:prstGeom>
          <a:solidFill>
            <a:srgbClr val="3FC9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78308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" y="2075688"/>
            <a:ext cx="53400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</a:t>
            </a:r>
            <a:r>
              <a:rPr lang="en-US" sz="16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(condition)</a:t>
            </a:r>
            <a:r>
              <a:rPr lang="en-US" sz="16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? </a:t>
            </a:r>
            <a:r>
              <a:rPr lang="en-US" sz="160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expr_if_true</a:t>
            </a:r>
            <a:r>
              <a:rPr lang="en-US" sz="16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en-US" sz="160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expr_if_false</a:t>
            </a:r>
            <a:r>
              <a:rPr lang="en-US" sz="16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5852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✦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is evaluated first; ? and : separate the two possible results.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✦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condition is true, the expression before : is the result; otherwise the one after : is used.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✦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short, single-value decisions — improves readability when used sparingly.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✦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if–else form is usually clearer for multi-statement or nested logic.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720840" y="1691640"/>
            <a:ext cx="4892040" cy="4434840"/>
          </a:xfrm>
          <a:prstGeom prst="roundRect">
            <a:avLst>
              <a:gd name="adj" fmla="val 2062"/>
            </a:avLst>
          </a:prstGeom>
          <a:solidFill>
            <a:srgbClr val="16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95160" y="1892808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FORMS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95160" y="233172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max = (a &gt; b) ? a : b;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95160" y="274320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same as 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95160" y="3108960"/>
            <a:ext cx="4343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max;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 &gt; b)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 = a;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 = b;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Program – Ternary Operator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LARGEST OF TWO NUMBERS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309360" cy="4480560"/>
          </a:xfrm>
          <a:prstGeom prst="roundRect">
            <a:avLst>
              <a:gd name="adj" fmla="val 1633"/>
            </a:avLst>
          </a:prstGeom>
          <a:solidFill>
            <a:srgbClr val="161F3D"/>
          </a:solidFill>
          <a:ln w="12700">
            <a:solidFill>
              <a:srgbClr val="1F2B54"/>
            </a:solidFill>
            <a:prstDash val="solid"/>
          </a:ln>
          <a:effectLst>
            <a:outerShdw blurRad="76200" dist="25400" dir="5400000" algn="bl" rotWithShape="0">
              <a:srgbClr val="1B1F3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700784"/>
            <a:ext cx="100584" cy="100584"/>
          </a:xfrm>
          <a:prstGeom prst="ellipse">
            <a:avLst/>
          </a:prstGeom>
          <a:solidFill>
            <a:srgbClr val="F45B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77824" y="1700784"/>
            <a:ext cx="100584" cy="100584"/>
          </a:xfrm>
          <a:prstGeom prst="ellipse">
            <a:avLst/>
          </a:prstGeom>
          <a:solidFill>
            <a:srgbClr val="F5C5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2416" y="1700784"/>
            <a:ext cx="100584" cy="100584"/>
          </a:xfrm>
          <a:prstGeom prst="ellipse">
            <a:avLst/>
          </a:prstGeom>
          <a:solidFill>
            <a:srgbClr val="3FC9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94960" y="164592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largest.c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" y="1938528"/>
            <a:ext cx="5797296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r>
              <a:rPr lang="en-US" sz="135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&lt;stdio.h&gt;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</a:t>
            </a:r>
            <a:r>
              <a:rPr lang="en-US" sz="13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a, b, max;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</a:t>
            </a:r>
            <a:r>
              <a:rPr lang="en-US" sz="135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("Enter two integers: ");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scanf</a:t>
            </a:r>
            <a:r>
              <a:rPr lang="en-US" sz="135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("%d %d", </a:t>
            </a:r>
            <a:r>
              <a:rPr lang="en-US" sz="13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&amp;a, &amp;b);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 = (a &gt; b) ? a : b;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</a:t>
            </a:r>
            <a:r>
              <a:rPr lang="en-US" sz="1350" dirty="0">
                <a:solidFill>
                  <a:srgbClr val="17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("Largest number is %d\n", </a:t>
            </a:r>
            <a:r>
              <a:rPr lang="en-US" sz="13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max);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3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086600" y="1554480"/>
            <a:ext cx="455371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0" y="1682496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0" y="2011680"/>
            <a:ext cx="409651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0" y="2121408"/>
            <a:ext cx="409651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Enter two integers: 45 78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F7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Largest number is 78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086600" y="3840480"/>
            <a:ext cx="4553712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0" y="3968496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4297680"/>
            <a:ext cx="409651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0" y="4407408"/>
            <a:ext cx="409651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Enter two integers: 100 30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F7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Largest number is 100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 &amp; Best Practices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070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THESE PITFALLS WHEN WRITING CONDITIONAL CODE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2011680"/>
            <a:ext cx="347472" cy="347472"/>
          </a:xfrm>
          <a:prstGeom prst="ellipse">
            <a:avLst/>
          </a:prstGeom>
          <a:solidFill>
            <a:srgbClr val="FDEF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2011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9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88" dirty="0"/>
          </a:p>
        </p:txBody>
      </p:sp>
      <p:sp>
        <p:nvSpPr>
          <p:cNvPr id="7" name="Text 5"/>
          <p:cNvSpPr/>
          <p:nvPr/>
        </p:nvSpPr>
        <p:spPr>
          <a:xfrm>
            <a:off x="1234440" y="1764792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Stray semicolon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63240" y="1764792"/>
            <a:ext cx="4206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3B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(x &gt; 0); { printf("positive"); }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452360" y="1764792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 runs unconditionally — the ; ends the if early.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110642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9808" y="3108960"/>
            <a:ext cx="347472" cy="347472"/>
          </a:xfrm>
          <a:prstGeom prst="ellipse">
            <a:avLst/>
          </a:prstGeom>
          <a:solidFill>
            <a:srgbClr val="FDEF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9808" y="3108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9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88" dirty="0"/>
          </a:p>
        </p:txBody>
      </p:sp>
      <p:sp>
        <p:nvSpPr>
          <p:cNvPr id="13" name="Text 11"/>
          <p:cNvSpPr/>
          <p:nvPr/>
        </p:nvSpPr>
        <p:spPr>
          <a:xfrm>
            <a:off x="1234440" y="2862072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instead of ==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63240" y="2862072"/>
            <a:ext cx="4206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3B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(x = 5) { ... }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452360" y="2862072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5 to x (always true) instead of comparing; use == to compare.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0642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9808" y="4206240"/>
            <a:ext cx="347472" cy="347472"/>
          </a:xfrm>
          <a:prstGeom prst="ellipse">
            <a:avLst/>
          </a:prstGeom>
          <a:solidFill>
            <a:srgbClr val="FDEF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9808" y="4206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9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88" dirty="0"/>
          </a:p>
        </p:txBody>
      </p:sp>
      <p:sp>
        <p:nvSpPr>
          <p:cNvPr id="19" name="Text 17"/>
          <p:cNvSpPr/>
          <p:nvPr/>
        </p:nvSpPr>
        <p:spPr>
          <a:xfrm>
            <a:off x="1234440" y="3959352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break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63240" y="3959352"/>
            <a:ext cx="4206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3B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1: printf("A"); case 2: printf("B");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452360" y="3959352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falls through into the next case unintentionally.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983480"/>
            <a:ext cx="110642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49808" y="5303520"/>
            <a:ext cx="347472" cy="347472"/>
          </a:xfrm>
          <a:prstGeom prst="ellipse">
            <a:avLst/>
          </a:prstGeom>
          <a:solidFill>
            <a:srgbClr val="FDEF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9808" y="53035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9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88" dirty="0"/>
          </a:p>
        </p:txBody>
      </p:sp>
      <p:sp>
        <p:nvSpPr>
          <p:cNvPr id="25" name="Text 23"/>
          <p:cNvSpPr/>
          <p:nvPr/>
        </p:nvSpPr>
        <p:spPr>
          <a:xfrm>
            <a:off x="1234440" y="5056632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Dangling else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063240" y="5056632"/>
            <a:ext cx="4206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3B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(a) if (b) x(); else y();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452360" y="5056632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binds to the nearest if — use braces to make intent explicit.</a:t>
            </a:r>
            <a:endParaRPr lang="en-US" sz="11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070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THIS LECTURE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05200" cy="1417320"/>
          </a:xfrm>
          <a:prstGeom prst="roundRect">
            <a:avLst>
              <a:gd name="adj" fmla="val 5161"/>
            </a:avLst>
          </a:prstGeom>
          <a:solidFill>
            <a:srgbClr val="16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883664"/>
            <a:ext cx="3102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2267712"/>
            <a:ext cx="31028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7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block only when one condition is true.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8160" y="1737360"/>
            <a:ext cx="3505200" cy="1417320"/>
          </a:xfrm>
          <a:prstGeom prst="roundRect">
            <a:avLst>
              <a:gd name="adj" fmla="val 5161"/>
            </a:avLst>
          </a:prstGeom>
          <a:solidFill>
            <a:srgbClr val="16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29328" y="1883664"/>
            <a:ext cx="3102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if–else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29328" y="2267712"/>
            <a:ext cx="31028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7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between two blocks; exactly one runs.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07680" y="1737360"/>
            <a:ext cx="3505200" cy="1417320"/>
          </a:xfrm>
          <a:prstGeom prst="roundRect">
            <a:avLst>
              <a:gd name="adj" fmla="val 5161"/>
            </a:avLst>
          </a:prstGeom>
          <a:solidFill>
            <a:srgbClr val="16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08848" y="1883664"/>
            <a:ext cx="3102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Nested if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08848" y="2267712"/>
            <a:ext cx="31028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7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a decision in stages, condition inside condition.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3505200" cy="1417320"/>
          </a:xfrm>
          <a:prstGeom prst="roundRect">
            <a:avLst>
              <a:gd name="adj" fmla="val 5161"/>
            </a:avLst>
          </a:prstGeom>
          <a:solidFill>
            <a:srgbClr val="16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3529584"/>
            <a:ext cx="3102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if–else–if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9808" y="3913632"/>
            <a:ext cx="31028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7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several conditions in order; first match wins.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28160" y="3383280"/>
            <a:ext cx="3505200" cy="1417320"/>
          </a:xfrm>
          <a:prstGeom prst="roundRect">
            <a:avLst>
              <a:gd name="adj" fmla="val 5161"/>
            </a:avLst>
          </a:prstGeom>
          <a:solidFill>
            <a:srgbClr val="16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29328" y="3529584"/>
            <a:ext cx="3102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29328" y="3913632"/>
            <a:ext cx="31028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7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one integer/char expression against many cases.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07680" y="3383280"/>
            <a:ext cx="3505200" cy="1417320"/>
          </a:xfrm>
          <a:prstGeom prst="roundRect">
            <a:avLst>
              <a:gd name="adj" fmla="val 5161"/>
            </a:avLst>
          </a:prstGeom>
          <a:solidFill>
            <a:srgbClr val="16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08848" y="3529584"/>
            <a:ext cx="3102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?: ternary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08848" y="3913632"/>
            <a:ext cx="31028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7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expression form of if–else.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2525" y="949569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788609"/>
            <a:ext cx="8686800" cy="23211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Create a simple ATM program: 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1. Check Balance 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2. Deposit 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3. Withdraw 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4. Exit</a:t>
            </a:r>
            <a:endParaRPr lang="en-US" sz="15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4297680"/>
            <a:ext cx="10607040" cy="0"/>
          </a:xfrm>
          <a:prstGeom prst="line">
            <a:avLst/>
          </a:prstGeom>
          <a:noFill/>
          <a:ln w="12700">
            <a:solidFill>
              <a:srgbClr val="1F2B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074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ANSI C By </a:t>
            </a:r>
            <a:r>
              <a:rPr lang="en-US" sz="1050" dirty="0" err="1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E.Balagurusamy</a:t>
            </a:r>
            <a:endParaRPr lang="en-US" sz="1050" dirty="0">
              <a:solidFill>
                <a:srgbClr val="8A9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 err="1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GeeksforGeeks</a:t>
            </a:r>
            <a:r>
              <a:rPr lang="en-US" sz="105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Decision Making in C  |  TutorialsPoint – C Decision Making  |  Programiz – C Control Flow Examples  |  SlideShare – Decision Making and Looping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1081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2199</Words>
  <Application>Microsoft Macintosh PowerPoint</Application>
  <PresentationFormat>Widescreen</PresentationFormat>
  <Paragraphs>401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Consolas</vt:lpstr>
      <vt:lpstr>Office Theme</vt:lpstr>
      <vt:lpstr>PowerPoint Presentation</vt:lpstr>
      <vt:lpstr>Learning Objectives</vt:lpstr>
      <vt:lpstr>What Is Decision Making in C?</vt:lpstr>
      <vt:lpstr>Types of Decision-Making Statements</vt:lpstr>
      <vt:lpstr>The if Statement</vt:lpstr>
      <vt:lpstr>Example Program – if Statement</vt:lpstr>
      <vt:lpstr>The if–else Statement</vt:lpstr>
      <vt:lpstr>Example Program – if–else Statement</vt:lpstr>
      <vt:lpstr>Nested if–else</vt:lpstr>
      <vt:lpstr>Example Program – Nested if–else</vt:lpstr>
      <vt:lpstr>The if–else–if Ladder</vt:lpstr>
      <vt:lpstr>Example Program – if–else–if Ladder</vt:lpstr>
      <vt:lpstr>The switch Statement</vt:lpstr>
      <vt:lpstr>Example Program – switch Statement</vt:lpstr>
      <vt:lpstr>switch vs. if–else–if Ladder</vt:lpstr>
      <vt:lpstr>The Conditional (Ternary) Operator</vt:lpstr>
      <vt:lpstr>Example Program – Ternary Operator</vt:lpstr>
      <vt:lpstr>Common Mistakes &amp; Best Practices</vt:lpstr>
      <vt:lpstr>Summary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Rashid Asif</cp:lastModifiedBy>
  <cp:revision>9</cp:revision>
  <dcterms:created xsi:type="dcterms:W3CDTF">2026-09-02T07:26:49Z</dcterms:created>
  <dcterms:modified xsi:type="dcterms:W3CDTF">2026-09-02T08:10:54Z</dcterms:modified>
</cp:coreProperties>
</file>